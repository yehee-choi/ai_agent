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03153"/>
          </a:solidFill>
          <a:ln w="12700">
            <a:solidFill>
              <a:srgbClr val="00315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0"/>
            <a:ext cx="109728" cy="514350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1887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VOC 월간 보고 — 2026년 9월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1965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FB3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가온리빙 고객지원팀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2468880"/>
            <a:ext cx="3200400" cy="4572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480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작성일 2026-10-15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153"/>
          </a:solidFill>
          <a:ln w="12700">
            <a:solidFill>
              <a:srgbClr val="0031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지표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9월 한눈에 보기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8600"/>
          </a:xfrm>
          <a:prstGeom prst="rect">
            <a:avLst/>
          </a:prstGeom>
          <a:solidFill>
            <a:srgbClr val="F0F4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2861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가온리빙 고객지원팀 | VOC 월간 보고 | 2026-09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49286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005840"/>
            <a:ext cx="2743200" cy="64008"/>
          </a:xfrm>
          <a:prstGeom prst="rect">
            <a:avLst/>
          </a:prstGeom>
          <a:solidFill>
            <a:srgbClr val="003153"/>
          </a:solidFill>
          <a:ln w="12700">
            <a:solidFill>
              <a:srgbClr val="0031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17043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15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121건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11480" y="18105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접수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2103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전월 132건 대비 -11건(-8.3%)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0" y="100584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005840"/>
            <a:ext cx="2743200" cy="640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17043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93.4%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337560" y="18105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완료율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37560" y="2103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처리상태 '완료' 기준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26480" y="100584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005840"/>
            <a:ext cx="2743200" cy="64008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117043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5F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25.8시간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263640" y="18105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처리시간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63640" y="2103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전월 23.8시간 · 완료 건 기준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288036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880360"/>
            <a:ext cx="2743200" cy="64008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04495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E9B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3.19점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411480" y="36850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만족도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11480" y="3977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전월 3.13점 · 미응답 11건 제외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0" y="288036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0" y="2880360"/>
            <a:ext cx="2743200" cy="6400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37560" y="304495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7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33건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3337560" y="36850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1위 유형 — 환불·반품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337560" y="3977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전체의 27.3%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126480" y="288036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26480" y="2880360"/>
            <a:ext cx="2743200" cy="64008"/>
          </a:xfrm>
          <a:prstGeom prst="rect">
            <a:avLst/>
          </a:prstGeom>
          <a:solidFill>
            <a:srgbClr val="616161"/>
          </a:solidFill>
          <a:ln w="12700">
            <a:solidFill>
              <a:srgbClr val="6161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63640" y="304495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161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2건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6263640" y="36850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제거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63640" y="3977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만족도 미응답 11건은 평균에서 제외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153"/>
          </a:solidFill>
          <a:ln w="12700">
            <a:solidFill>
              <a:srgbClr val="0031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유형별 현황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건수 · 비중 · 전월 대비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8600"/>
          </a:xfrm>
          <a:prstGeom prst="rect">
            <a:avLst/>
          </a:prstGeom>
          <a:solidFill>
            <a:srgbClr val="F0F4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2861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가온리빙 고객지원팀 | VOC 월간 보고 | 2026-09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49286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9601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유형별 접수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" y="1325880"/>
            <a:ext cx="40233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환불·반품 33건 · 27.3% · +14건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배송 지연 24건 · 19.8% · -21건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문의 23건 · 19.0% · -3건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불량 20건 · 16.5% · -1건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회원·계정 11건 · 9.1% · -1건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오류 10건 · 8.3% · +1건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4160520" cy="3749040"/>
          </a:xfrm>
          <a:prstGeom prst="rect">
            <a:avLst/>
          </a:prstGeom>
          <a:solidFill>
            <a:srgbClr val="F0F4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960120"/>
            <a:ext cx="4160520" cy="54864"/>
          </a:xfrm>
          <a:prstGeom prst="rect">
            <a:avLst/>
          </a:prstGeom>
          <a:solidFill>
            <a:srgbClr val="003153"/>
          </a:solidFill>
          <a:ln w="12700">
            <a:solidFill>
              <a:srgbClr val="0031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15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달 눈에 띄는 변화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1463040"/>
            <a:ext cx="388620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환불·반품이 전월 19건에서 33건으로 73.7% 늘어 1위가 되었다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환불·반품의 평균 처리시간은 53.7시간, 평균 만족도는 2.16점으로 6개 유형 중 가장 길고 가장 낮다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배송 지연은 전월 45건에서 24건으로 46.7% 줄었다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153"/>
          </a:solidFill>
          <a:ln w="12700">
            <a:solidFill>
              <a:srgbClr val="0031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 3 유형의 접수 내용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접수 내용 (정리본 기준, 개인정보 제외)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8600"/>
          </a:xfrm>
          <a:prstGeom prst="rect">
            <a:avLst/>
          </a:prstGeom>
          <a:solidFill>
            <a:srgbClr val="F0F4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2861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가온리빙 고객지원팀 | VOC 월간 보고 | 2026-09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49286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2715768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005840"/>
            <a:ext cx="64008" cy="3703320"/>
          </a:xfrm>
          <a:prstGeom prst="rect">
            <a:avLst/>
          </a:prstGeom>
          <a:solidFill>
            <a:srgbClr val="003153"/>
          </a:solidFill>
          <a:ln w="12700">
            <a:solidFill>
              <a:srgbClr val="0031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10972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환불·반품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0624" y="1444752"/>
            <a:ext cx="2478024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“환불 금액이 결제 금액과 다르게 들어왔어요.” (VOC-2609-0003)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“환불 진행 상황을 어디서 확인하는지 모르겠습니다.” (VOC-2609-0008)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“반품 접수한 지 8일이 지났는데 환불이 아직 안 됐습니다.” (VOC-2609-0016)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72968" y="1005840"/>
            <a:ext cx="2715768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2968" y="1005840"/>
            <a:ext cx="64008" cy="370332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9272" y="10972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배송 지연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19272" y="1444752"/>
            <a:ext cx="2478024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“출고 지연 문자만 받고 이후 안내가 없습니다.” (VOC-2609-0007)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“배송 예정일이 지났는데 상품이 도착하지 않았어요.” (VOC-2609-0086)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“선물용으로 주문했는데 날짜를 못 맞추게 됐습니다.” (VOC-2609-0002)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71616" y="1005840"/>
            <a:ext cx="2715768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71616" y="1005840"/>
            <a:ext cx="64008" cy="370332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0972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문의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0" y="1444752"/>
            <a:ext cx="2478024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“전자레인지 사용이 가능한 제품인가요?” (VOC-2609-0018)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“보증 기간이 얼마나 되나요?” (VOC-2609-0001)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“설치 설명서를 다시 받을 수 있을까요?” (VOC-2609-0030)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153"/>
          </a:solidFill>
          <a:ln w="12700">
            <a:solidFill>
              <a:srgbClr val="0031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업계 사례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참조/조사범위.md 기준으로 채택한 자료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8600"/>
          </a:xfrm>
          <a:prstGeom prst="rect">
            <a:avLst/>
          </a:prstGeom>
          <a:solidFill>
            <a:srgbClr val="F0F4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2861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가온리빙 고객지원팀 | VOC 월간 보고 | 2026-09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49286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2715768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005840"/>
            <a:ext cx="64008" cy="3703320"/>
          </a:xfrm>
          <a:prstGeom prst="rect">
            <a:avLst/>
          </a:prstGeom>
          <a:solidFill>
            <a:srgbClr val="003153"/>
          </a:solidFill>
          <a:ln w="12700">
            <a:solidFill>
              <a:srgbClr val="0031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10972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환불·반품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0624" y="1444752"/>
            <a:ext cx="2478024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한국소비자원 조사에서 6개사 중 4개사가 반품 비용이 든다는 사실만 알리고 금액은 밝히지 않았다.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소비자원은 반품비 정보 제공 강화를 권고할 예정이다.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한국소비자원 · 경향신문 2026-06-16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72968" y="1005840"/>
            <a:ext cx="2715768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2968" y="1005840"/>
            <a:ext cx="64008" cy="370332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9272" y="10972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배송 지연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19272" y="1444752"/>
            <a:ext cx="2478024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한국소비자원이 온라인 가구 판매 6개사를 조사한 결과 5개사가 배송 상태 정보를 표시하지 않거나 실제 배송과 무관한 상태를 안내했다.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한국소비자원 · 경향신문 2026-06-16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71616" y="1005840"/>
            <a:ext cx="2715768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71616" y="1005840"/>
            <a:ext cx="64008" cy="370332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0972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문의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0" y="1444752"/>
            <a:ext cx="2478024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업계 사례 없음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검토한 2건을 배제했다.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날짜 확인 불가 1건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광고성 글 1건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153"/>
          </a:solidFill>
          <a:ln w="12700">
            <a:solidFill>
              <a:srgbClr val="0031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과제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 3 유형마다 과제 1개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8600"/>
          </a:xfrm>
          <a:prstGeom prst="rect">
            <a:avLst/>
          </a:prstGeom>
          <a:solidFill>
            <a:srgbClr val="F0F4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2861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가온리빙 고객지원팀 | VOC 월간 보고 | 2026-09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49286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960120"/>
            <a:ext cx="2743200" cy="3749040"/>
          </a:xfrm>
          <a:prstGeom prst="rect">
            <a:avLst/>
          </a:prstGeom>
          <a:solidFill>
            <a:srgbClr val="F0F4F8"/>
          </a:solidFill>
          <a:ln w="12700">
            <a:solidFill>
              <a:srgbClr val="00315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960120"/>
            <a:ext cx="2743200" cy="594360"/>
          </a:xfrm>
          <a:prstGeom prst="rect">
            <a:avLst/>
          </a:prstGeom>
          <a:solidFill>
            <a:srgbClr val="003153"/>
          </a:solidFill>
          <a:ln w="12700">
            <a:solidFill>
              <a:srgbClr val="0031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00584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과제-04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환불·반품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1480" y="1719072"/>
            <a:ext cx="64008" cy="731520"/>
          </a:xfrm>
          <a:prstGeom prst="rect">
            <a:avLst/>
          </a:prstGeom>
          <a:solidFill>
            <a:srgbClr val="003153"/>
          </a:solidFill>
          <a:ln w="12700">
            <a:solidFill>
              <a:srgbClr val="0031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6916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반품 접수부터 환불 완료까지 진행 단계와 예상 환불일을 안내하고, 빠지는 반품비 내역을 함께 알린다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2688336"/>
            <a:ext cx="64008" cy="731520"/>
          </a:xfrm>
          <a:prstGeom prst="rect">
            <a:avLst/>
          </a:prstGeom>
          <a:solidFill>
            <a:srgbClr val="003153"/>
          </a:solidFill>
          <a:ln w="12700">
            <a:solidFill>
              <a:srgbClr val="0031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660904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수치: 33건, 전월 대비 +14건, 평균 처리시간 53.7시간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3657600"/>
            <a:ext cx="64008" cy="731520"/>
          </a:xfrm>
          <a:prstGeom prst="rect">
            <a:avLst/>
          </a:prstGeom>
          <a:solidFill>
            <a:srgbClr val="003153"/>
          </a:solidFill>
          <a:ln w="12700">
            <a:solidFill>
              <a:srgbClr val="00315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63016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사례: 반품비 금액 미고지 지적, 환급 지연 상담 (한국소비자원)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0" y="960120"/>
            <a:ext cx="2743200" cy="3749040"/>
          </a:xfrm>
          <a:prstGeom prst="rect">
            <a:avLst/>
          </a:prstGeom>
          <a:solidFill>
            <a:srgbClr val="F0F4F8"/>
          </a:solidFill>
          <a:ln w="12700">
            <a:solidFill>
              <a:srgbClr val="EE9B0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960120"/>
            <a:ext cx="2743200" cy="59436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0128" y="100584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과제-05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배송 지연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337560" y="1719072"/>
            <a:ext cx="64008" cy="73152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93008" y="16916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출고 지연을 알린 뒤 새 예상 도착일로 한 번 더 안내한다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337560" y="2688336"/>
            <a:ext cx="64008" cy="73152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93008" y="2660904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수치: 24건, 전월 대비 -21건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37560" y="3657600"/>
            <a:ext cx="64008" cy="73152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93008" y="363016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사례: 배송 상태 정보 미표시 지적 (한국소비자원)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26480" y="960120"/>
            <a:ext cx="2743200" cy="3749040"/>
          </a:xfrm>
          <a:prstGeom prst="rect">
            <a:avLst/>
          </a:prstGeom>
          <a:solidFill>
            <a:srgbClr val="F0F4F8"/>
          </a:solidFill>
          <a:ln w="12700">
            <a:solidFill>
              <a:srgbClr val="005F7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960120"/>
            <a:ext cx="2743200" cy="59436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36208" y="100584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과제-06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문의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63640" y="1719072"/>
            <a:ext cx="64008" cy="73152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19088" y="16916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전자레인지 사용 여부와 보증 기간을 상품 상세 첫 화면에 표시한다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63640" y="2688336"/>
            <a:ext cx="64008" cy="73152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19088" y="2660904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수치: 23건, 비중 19.0%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263640" y="3657600"/>
            <a:ext cx="64008" cy="73152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19088" y="363016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사례: 업계 사례 없음 — 사내 데이터 기준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153"/>
          </a:solidFill>
          <a:ln w="12700">
            <a:solidFill>
              <a:srgbClr val="0031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지난달 과제 점검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유형의 건수 변화 (원인은 단정하지 않음)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8600"/>
          </a:xfrm>
          <a:prstGeom prst="rect">
            <a:avLst/>
          </a:prstGeom>
          <a:solidFill>
            <a:srgbClr val="F0F4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2861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가온리빙 고객지원팀 | VOC 월간 보고 | 2026-09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49286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9601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지난달 과제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" y="1325880"/>
            <a:ext cx="40233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과제-01 배송 지연 — 배송 상태와 예상 도착일 먼저 안내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과제-02 사용 문의 — 자주 묻는 사용 문의를 상품 상세·FAQ에 정리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과제-03 상품 불량 — 출고 전 점검 항목 추가, 하자 접수 안내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4160520" cy="3749040"/>
          </a:xfrm>
          <a:prstGeom prst="rect">
            <a:avLst/>
          </a:prstGeom>
          <a:solidFill>
            <a:srgbClr val="F0F4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960120"/>
            <a:ext cx="4160520" cy="54864"/>
          </a:xfrm>
          <a:prstGeom prst="rect">
            <a:avLst/>
          </a:prstGeom>
          <a:solidFill>
            <a:srgbClr val="003153"/>
          </a:solidFill>
          <a:ln w="12700">
            <a:solidFill>
              <a:srgbClr val="0031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15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 결과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1463040"/>
            <a:ext cx="388620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과제-01 배송 지연: 45건 → 24건 (감소)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과제-02 사용 문의: 26건 → 23건 (감소)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과제-03 상품 불량: 21건 → 20건 (감소)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판정은 건수 변화만 나타내며, 과제 때문이라고 단정하지 않는다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153"/>
          </a:solidFill>
          <a:ln w="12700">
            <a:solidFill>
              <a:srgbClr val="0031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출처와 데이터 정리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보고서의 근거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8600"/>
          </a:xfrm>
          <a:prstGeom prst="rect">
            <a:avLst/>
          </a:prstGeom>
          <a:solidFill>
            <a:srgbClr val="F0F4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2861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가온리빙 고객지원팀 | VOC 월간 보고 | 2026-09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49286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9601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채택 자료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" y="1325880"/>
            <a:ext cx="40233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환불반품_1.md · 배송지연_1.md — 한국소비자원 · 경향신문 2026-06-16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khan.co.kr/article/202606161513011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환불반품_2.md — 한국소비자원 · 파이낸셜뉴스 2026-05-24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fnnews.com/news/202605241516292728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4160520" cy="3749040"/>
          </a:xfrm>
          <a:prstGeom prst="rect">
            <a:avLst/>
          </a:prstGeom>
          <a:solidFill>
            <a:srgbClr val="F0F4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960120"/>
            <a:ext cx="4160520" cy="54864"/>
          </a:xfrm>
          <a:prstGeom prst="rect">
            <a:avLst/>
          </a:prstGeom>
          <a:solidFill>
            <a:srgbClr val="003153"/>
          </a:solidFill>
          <a:ln w="12700">
            <a:solidFill>
              <a:srgbClr val="0031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15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정리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1463040"/>
            <a:ext cx="388620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123행, 중복 2건 제거 → 총 접수 121건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만족도 미응답 11건 제외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 칸의 연락처 2건 가림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지시문 의심 1건(VOC-2609-0024) — 지시를 따르지 않고 집계에 포함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31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57200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C6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달 핵심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총 접수 121건, 전월 대비 -8.3%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02996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환불·반품 33건으로 1위, 전월 대비 +73.7%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48716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배송 지연 24건, 전월 대비 -46.7%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11887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C6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달 점검할 것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15727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◎  과제-04 환불·반품 건수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20299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◎  과제-05 배송 지연 건수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24871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◎  과제-06 사용 문의 건수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8046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977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환불·반품의 평균 처리시간은 53.7시간으로 6개 유형 중 가장 깁니다.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5720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C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가온리빙 고객지원팀 | VOC 월간 보고 | 2026-09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VOC 월간 보고 — 2026년 9월</dc:title>
  <dc:subject>PptxGenJS Presentation</dc:subject>
  <dc:creator>가온리빙 고객지원팀</dc:creator>
  <cp:lastModifiedBy>가온리빙 고객지원팀</cp:lastModifiedBy>
  <cp:revision>1</cp:revision>
  <dcterms:created xsi:type="dcterms:W3CDTF">2026-10-15T09:08:08Z</dcterms:created>
  <dcterms:modified xsi:type="dcterms:W3CDTF">2026-10-15T09:08:08Z</dcterms:modified>
</cp:coreProperties>
</file>