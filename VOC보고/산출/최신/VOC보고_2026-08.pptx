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가온리빙 고객지원팀 | VOC 월간 보고 | 2026-08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가온리빙 고객지원팀 | VOC 월간 보고 | 2026-08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VOC 월간 보고 — 2026년 8월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가온리빙 고객지원팀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작성일 2026-10-17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핵심 지표</a:t>
            </a:r>
            <a:endParaRPr lang="en-US" sz="2600" dirty="0"/>
          </a:p>
        </p:txBody>
      </p:sp>
      <p:sp>
        <p:nvSpPr>
          <p:cNvPr id="3" name="metric-1"/>
          <p:cNvSpPr/>
          <p:nvPr/>
        </p:nvSpPr>
        <p:spPr>
          <a:xfrm>
            <a:off x="45720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총 접수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132건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전월 110건 대비 +22건 (+20.0%)</a:t>
            </a:r>
            <a:endParaRPr lang="en-US" sz="1100" dirty="0"/>
          </a:p>
        </p:txBody>
      </p:sp>
      <p:sp>
        <p:nvSpPr>
          <p:cNvPr id="7" name="metric-2"/>
          <p:cNvSpPr/>
          <p:nvPr/>
        </p:nvSpPr>
        <p:spPr>
          <a:xfrm>
            <a:off x="324612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16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처리 완료율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85.6%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처리 완료 113건</a:t>
            </a:r>
            <a:endParaRPr lang="en-US" sz="1100" dirty="0"/>
          </a:p>
        </p:txBody>
      </p:sp>
      <p:sp>
        <p:nvSpPr>
          <p:cNvPr id="11" name="metric-3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16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평균 처리시간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23.8시간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완료 건 기준</a:t>
            </a:r>
            <a:endParaRPr lang="en-US" sz="1100" dirty="0"/>
          </a:p>
        </p:txBody>
      </p:sp>
      <p:sp>
        <p:nvSpPr>
          <p:cNvPr id="15" name="metric-4"/>
          <p:cNvSpPr/>
          <p:nvPr/>
        </p:nvSpPr>
        <p:spPr>
          <a:xfrm>
            <a:off x="45720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99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평균 만족도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3.13점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전월 3.63점</a:t>
            </a:r>
            <a:endParaRPr lang="en-US" sz="1100" dirty="0"/>
          </a:p>
        </p:txBody>
      </p:sp>
      <p:sp>
        <p:nvSpPr>
          <p:cNvPr id="19" name="metric-5"/>
          <p:cNvSpPr/>
          <p:nvPr/>
        </p:nvSpPr>
        <p:spPr>
          <a:xfrm>
            <a:off x="324612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999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1위 유형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배송 지연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45건</a:t>
            </a:r>
            <a:endParaRPr lang="en-US" sz="1100" dirty="0"/>
          </a:p>
        </p:txBody>
      </p:sp>
      <p:sp>
        <p:nvSpPr>
          <p:cNvPr id="23" name="metric-6"/>
          <p:cNvSpPr/>
          <p:nvPr/>
        </p:nvSpPr>
        <p:spPr>
          <a:xfrm>
            <a:off x="603504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999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데이터 정리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중복 2건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만족도 미응답 22건 제외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유형별 현황</a:t>
            </a:r>
            <a:endParaRPr lang="en-US" sz="2600" dirty="0"/>
          </a:p>
        </p:txBody>
      </p:sp>
      <p:graphicFrame>
        <p:nvGraphicFramePr>
          <p:cNvPr id="4" name="typ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9144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전월 대비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배송 지연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+23건 (+104.5%)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-2건 (-7.1%)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불량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+1건 (+5.0%)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환불·반품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+1건 (+5.6%)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회원·계정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 (0.0%)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-1건 (-10.0%)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hanges-panel"/>
          <p:cNvSpPr/>
          <p:nvPr/>
        </p:nvSpPr>
        <p:spPr>
          <a:xfrm>
            <a:off x="5577840" y="1051560"/>
            <a:ext cx="31089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이번 달 눈에 띄는 변화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002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배송 지연 22건 → 45건, +23건 (+104.5%), 전체의 34.1%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배송 지연 평균 만족도 2.11점, 6개 유형 중 가장 낮음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전체 평균 만족도 3.63 → 3.13점, 평균 처리시간 17.0 → 23.8시간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상위 3 유형의 접수 내용</a:t>
            </a:r>
            <a:endParaRPr lang="en-US" sz="2600" dirty="0"/>
          </a:p>
        </p:txBody>
      </p:sp>
      <p:sp>
        <p:nvSpPr>
          <p:cNvPr id="3" name="voc-card-1"/>
          <p:cNvSpPr/>
          <p:nvPr/>
        </p:nvSpPr>
        <p:spPr>
          <a:xfrm>
            <a:off x="45720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oc-rank-1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배송 지연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주문한 지 8일이 지났는데 아직 배송 출발 안내가 없습니다. (VOC-2608-0013)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배송 조회가 10일째 같은 단계에서 멈춰 있습니다. (VOC-2608-0004)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출고 지연 문자만 받고 이후 안내가 없습니다. (VOC-2608-0031)</a:t>
            </a:r>
            <a:endParaRPr lang="en-US" sz="1200" dirty="0"/>
          </a:p>
        </p:txBody>
      </p:sp>
      <p:sp>
        <p:nvSpPr>
          <p:cNvPr id="8" name="voc-card-2"/>
          <p:cNvSpPr/>
          <p:nvPr/>
        </p:nvSpPr>
        <p:spPr>
          <a:xfrm>
            <a:off x="324612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voc-rank-2"/>
          <p:cNvSpPr/>
          <p:nvPr/>
        </p:nvSpPr>
        <p:spPr>
          <a:xfrm>
            <a:off x="3429000" y="12070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사용 문의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8308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설치 설명서를 다시 받을 수 있을까요? (VOC-2608-0001)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전자레인지 사용이 가능한 제품인가요? (VOC-2608-0002)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보증 기간이 얼마나 되나요? (VOC-2608-0012)</a:t>
            </a:r>
            <a:endParaRPr lang="en-US" sz="1200" dirty="0"/>
          </a:p>
        </p:txBody>
      </p:sp>
      <p:sp>
        <p:nvSpPr>
          <p:cNvPr id="13" name="voc-card-3"/>
          <p:cNvSpPr/>
          <p:nvPr/>
        </p:nvSpPr>
        <p:spPr>
          <a:xfrm>
            <a:off x="6035040" y="105156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oc-rank-3"/>
          <p:cNvSpPr/>
          <p:nvPr/>
        </p:nvSpPr>
        <p:spPr>
          <a:xfrm>
            <a:off x="6217920" y="12070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상품 불량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78308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받은 제품 일부가 파손되어 있었습니다. 교환 원합니다. (VOC-2608-0023)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구성품 하나가 빠져서 왔어요. (VOC-2608-0007)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상품 표면에 흠집이 있어 사진 첨부합니다. (VOC-2608-0006)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업계 사례</a:t>
            </a:r>
            <a:endParaRPr lang="en-US" sz="2600" dirty="0"/>
          </a:p>
        </p:txBody>
      </p:sp>
      <p:sp>
        <p:nvSpPr>
          <p:cNvPr id="3" name="case-card-1"/>
          <p:cNvSpPr/>
          <p:nvPr/>
        </p:nvSpPr>
        <p:spPr>
          <a:xfrm>
            <a:off x="457200" y="105156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배송 지연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업계 사례 없음</a:t>
            </a:r>
            <a:endParaRPr lang="en-US" sz="2200" dirty="0"/>
          </a:p>
        </p:txBody>
      </p:sp>
      <p:sp>
        <p:nvSpPr>
          <p:cNvPr id="6" name="case-card-2"/>
          <p:cNvSpPr/>
          <p:nvPr/>
        </p:nvSpPr>
        <p:spPr>
          <a:xfrm>
            <a:off x="3246120" y="105156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사용 문의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업계 사례 없음</a:t>
            </a:r>
            <a:endParaRPr lang="en-US" sz="2200" dirty="0"/>
          </a:p>
        </p:txBody>
      </p:sp>
      <p:sp>
        <p:nvSpPr>
          <p:cNvPr id="9" name="case-card-3"/>
          <p:cNvSpPr/>
          <p:nvPr/>
        </p:nvSpPr>
        <p:spPr>
          <a:xfrm>
            <a:off x="6035040" y="105156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상품 불량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업계 사례 없음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후보 자료 5건 모두 배제 — 사유는 조사판정_2026-08.md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개선 과제</a:t>
            </a:r>
            <a:endParaRPr lang="en-US" sz="2600" dirty="0"/>
          </a:p>
        </p:txBody>
      </p:sp>
      <p:sp>
        <p:nvSpPr>
          <p:cNvPr id="3" name="timeline-line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" name="timeline-dot-1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143000"/>
            <a:ext cx="10058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배송 지연</a:t>
            </a:r>
            <a:endParaRPr lang="en-US" sz="1500" dirty="0"/>
          </a:p>
        </p:txBody>
      </p:sp>
      <p:sp>
        <p:nvSpPr>
          <p:cNvPr id="6" name="task-card-1"/>
          <p:cNvSpPr/>
          <p:nvPr/>
        </p:nvSpPr>
        <p:spPr>
          <a:xfrm>
            <a:off x="45720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과제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출고가 늦어지는 주문에 배송 예정일과 진행 상황을 먼저 안내하는 절차 마련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수치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45건, 전월 대비 +23건, 평균 만족도 2.11점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사례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업계 사례 없음 — 사내 데이터 기준 (VOC-2608-0013, 0031)</a:t>
            </a:r>
            <a:endParaRPr lang="en-US" sz="1100" dirty="0"/>
          </a:p>
        </p:txBody>
      </p:sp>
      <p:sp>
        <p:nvSpPr>
          <p:cNvPr id="8" name="timeline-dot-2"/>
          <p:cNvSpPr/>
          <p:nvPr/>
        </p:nvSpPr>
        <p:spPr>
          <a:xfrm>
            <a:off x="3383280" y="114300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1143000"/>
            <a:ext cx="10058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사용 문의</a:t>
            </a:r>
            <a:endParaRPr lang="en-US" sz="1500" dirty="0"/>
          </a:p>
        </p:txBody>
      </p:sp>
      <p:sp>
        <p:nvSpPr>
          <p:cNvPr id="10" name="task-card-2"/>
          <p:cNvSpPr/>
          <p:nvPr/>
        </p:nvSpPr>
        <p:spPr>
          <a:xfrm>
            <a:off x="324612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과제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자주 묻는 사용 문의(설치 설명서·전자레인지 사용 가능 여부·보증 기간)를 상품 페이지 안내에 정리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수치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26건, 비중 19.7%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사례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업계 사례 없음 — 사내 데이터 기준 (VOC-2608-0001, 0002, 0012)</a:t>
            </a:r>
            <a:endParaRPr lang="en-US" sz="1100" dirty="0"/>
          </a:p>
        </p:txBody>
      </p:sp>
      <p:sp>
        <p:nvSpPr>
          <p:cNvPr id="12" name="timeline-dot-3"/>
          <p:cNvSpPr/>
          <p:nvPr/>
        </p:nvSpPr>
        <p:spPr>
          <a:xfrm>
            <a:off x="6172200" y="1143000"/>
            <a:ext cx="365760" cy="3657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143000"/>
            <a:ext cx="10058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상품 불량</a:t>
            </a:r>
            <a:endParaRPr lang="en-US" sz="1500" dirty="0"/>
          </a:p>
        </p:txBody>
      </p:sp>
      <p:sp>
        <p:nvSpPr>
          <p:cNvPr id="14" name="task-card-3"/>
          <p:cNvSpPr/>
          <p:nvPr/>
        </p:nvSpPr>
        <p:spPr>
          <a:xfrm>
            <a:off x="603504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288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과제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출고 전 구성품·외관(파손·흠집) 검수 항목 점검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수치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21건, 전월 대비 +1건, 평균 처리시간 30.4시간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근거 사례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업계 사례 없음 — 사내 데이터 기준 (VOC-2608-0023, 0007, 0006)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지난달 과제 점검</a:t>
            </a:r>
            <a:endParaRPr lang="en-US" sz="2600" dirty="0"/>
          </a:p>
        </p:txBody>
      </p:sp>
      <p:sp>
        <p:nvSpPr>
          <p:cNvPr id="3" name="first-report"/>
          <p:cNvSpPr/>
          <p:nvPr/>
        </p:nvSpPr>
        <p:spPr>
          <a:xfrm>
            <a:off x="457200" y="1280160"/>
            <a:ext cx="8229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첫 보고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점검할 지난달 과제 없음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출처와 데이터 정리</a:t>
            </a:r>
            <a:endParaRPr lang="en-US" sz="2600" dirty="0"/>
          </a:p>
        </p:txBody>
      </p:sp>
      <p:sp>
        <p:nvSpPr>
          <p:cNvPr id="3" name="sources-panel"/>
          <p:cNvSpPr/>
          <p:nvPr/>
        </p:nvSpPr>
        <p:spPr>
          <a:xfrm>
            <a:off x="45720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채택 자료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채택 자료 없음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조사판정: 산출/최신/조사판정_2026-08.md</a:t>
            </a:r>
            <a:endParaRPr lang="en-US" sz="1300" dirty="0"/>
          </a:p>
        </p:txBody>
      </p:sp>
      <p:sp>
        <p:nvSpPr>
          <p:cNvPr id="6" name="cleaning-panel"/>
          <p:cNvSpPr/>
          <p:nvPr/>
        </p:nvSpPr>
        <p:spPr>
          <a:xfrm>
            <a:off x="470916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데이터 정리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중복 제거 2건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만족도 미응답 22건 (평균에서 제외)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연락처 가림 2건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지시문 의심 1건 (VOC-2608-0114, 따르지 않음)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요약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이번 달 핵심 3가지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총 접수 132건, 전월 대비 +22건 (+20.0%)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배송 지연 45건 (+23건)으로 1위, 평균 만족도 2.11점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전체 평균 만족도 3.13점 (전월 3.63점)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다음 달 점검할 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배송 지연: 출고 지연 사전 안내 절차 마련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사용 문의: 자주 묻는 사용 문의를 상품 페이지 안내에 정리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상품 불량: 출고 전 구성품·외관 검수 항목 점검</a:t>
            </a:r>
            <a:endParaRPr lang="en-US" sz="13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ep Navy">
  <a:themeElements>
    <a:clrScheme name="Deep Navy">
      <a:dk1>
        <a:srgbClr val="001220"/>
      </a:dk1>
      <a:lt1>
        <a:srgbClr val="FFFFFF"/>
      </a:lt1>
      <a:dk2>
        <a:srgbClr val="003153"/>
      </a:dk2>
      <a:lt2>
        <a:srgbClr val="F0F4F8"/>
      </a:lt2>
      <a:accent1>
        <a:srgbClr val="003153"/>
      </a:accent1>
      <a:accent2>
        <a:srgbClr val="005F73"/>
      </a:accent2>
      <a:accent3>
        <a:srgbClr val="EE9B00"/>
      </a:accent3>
      <a:accent4>
        <a:srgbClr val="001220"/>
      </a:accent4>
      <a:accent5>
        <a:srgbClr val="F0F4F8"/>
      </a:accent5>
      <a:accent6>
        <a:srgbClr val="FFFFFF"/>
      </a:accent6>
      <a:hlink>
        <a:srgbClr val="005F73"/>
      </a:hlink>
      <a:folHlink>
        <a:srgbClr val="003153"/>
      </a:folHlink>
    </a:clrScheme>
    <a:fontScheme name="Deep Nav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 월간 보고 — 2026년 8월</dc:title>
  <dc:subject>PptxGenJS Presentation</dc:subject>
  <dc:creator>가온리빙 고객지원팀</dc:creator>
  <cp:lastModifiedBy>가온리빙 고객지원팀</cp:lastModifiedBy>
  <cp:revision>1</cp:revision>
  <dcterms:created xsi:type="dcterms:W3CDTF">2026-10-17T05:44:43Z</dcterms:created>
  <dcterms:modified xsi:type="dcterms:W3CDTF">2026-10-17T05:44:43Z</dcterms:modified>
</cp:coreProperties>
</file>